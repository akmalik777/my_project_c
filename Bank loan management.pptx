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</p:sldMasterIdLst>
  <p:notesMasterIdLst>
    <p:notesMasterId r:id="rId18"/>
  </p:notesMasterIdLst>
  <p:sldIdLst>
    <p:sldId id="1864" r:id="rId5"/>
    <p:sldId id="1846" r:id="rId6"/>
    <p:sldId id="1845" r:id="rId7"/>
    <p:sldId id="1848" r:id="rId8"/>
    <p:sldId id="1866" r:id="rId9"/>
    <p:sldId id="1865" r:id="rId10"/>
    <p:sldId id="1871" r:id="rId11"/>
    <p:sldId id="1858" r:id="rId12"/>
    <p:sldId id="1868" r:id="rId13"/>
    <p:sldId id="1869" r:id="rId14"/>
    <p:sldId id="1870" r:id="rId15"/>
    <p:sldId id="1859" r:id="rId16"/>
    <p:sldId id="1867" r:id="rId1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80" userDrawn="1">
          <p15:clr>
            <a:srgbClr val="A4A3A4"/>
          </p15:clr>
        </p15:guide>
        <p15:guide id="3" pos="7200" userDrawn="1">
          <p15:clr>
            <a:srgbClr val="A4A3A4"/>
          </p15:clr>
        </p15:guide>
        <p15:guide id="4" pos="4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4387"/>
    <a:srgbClr val="FF2625"/>
    <a:srgbClr val="007788"/>
    <a:srgbClr val="297C2A"/>
    <a:srgbClr val="F69000"/>
    <a:srgbClr val="01C2D1"/>
    <a:srgbClr val="D6D734"/>
    <a:srgbClr val="005C68"/>
    <a:srgbClr val="3B2E58"/>
    <a:srgbClr val="6B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24" autoAdjust="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>
        <p:guide orient="horz" pos="2160"/>
        <p:guide pos="480"/>
        <p:guide pos="7200"/>
        <p:guide pos="43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4" d="100"/>
        <a:sy n="9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sar malik" userId="87a5deb43dab58c1" providerId="LiveId" clId="{13D5EEFD-08F0-484F-8365-FE97859C1EFF}"/>
    <pc:docChg chg="custSel modSld">
      <pc:chgData name="kaisar malik" userId="87a5deb43dab58c1" providerId="LiveId" clId="{13D5EEFD-08F0-484F-8365-FE97859C1EFF}" dt="2025-12-04T05:39:03.838" v="157" actId="20577"/>
      <pc:docMkLst>
        <pc:docMk/>
      </pc:docMkLst>
      <pc:sldChg chg="modSp mod">
        <pc:chgData name="kaisar malik" userId="87a5deb43dab58c1" providerId="LiveId" clId="{13D5EEFD-08F0-484F-8365-FE97859C1EFF}" dt="2025-12-04T04:53:52.797" v="51" actId="20577"/>
        <pc:sldMkLst>
          <pc:docMk/>
          <pc:sldMk cId="461669259" sldId="1846"/>
        </pc:sldMkLst>
        <pc:spChg chg="mod">
          <ac:chgData name="kaisar malik" userId="87a5deb43dab58c1" providerId="LiveId" clId="{13D5EEFD-08F0-484F-8365-FE97859C1EFF}" dt="2025-12-04T04:53:52.797" v="51" actId="20577"/>
          <ac:spMkLst>
            <pc:docMk/>
            <pc:sldMk cId="461669259" sldId="1846"/>
            <ac:spMk id="2" creationId="{3F36812B-2065-4A2B-B59B-8957022687BC}"/>
          </ac:spMkLst>
        </pc:spChg>
      </pc:sldChg>
      <pc:sldChg chg="modSp mod">
        <pc:chgData name="kaisar malik" userId="87a5deb43dab58c1" providerId="LiveId" clId="{13D5EEFD-08F0-484F-8365-FE97859C1EFF}" dt="2025-12-04T05:30:38.453" v="151" actId="20577"/>
        <pc:sldMkLst>
          <pc:docMk/>
          <pc:sldMk cId="576716121" sldId="1859"/>
        </pc:sldMkLst>
        <pc:spChg chg="mod">
          <ac:chgData name="kaisar malik" userId="87a5deb43dab58c1" providerId="LiveId" clId="{13D5EEFD-08F0-484F-8365-FE97859C1EFF}" dt="2025-12-04T05:30:38.453" v="151" actId="20577"/>
          <ac:spMkLst>
            <pc:docMk/>
            <pc:sldMk cId="576716121" sldId="1859"/>
            <ac:spMk id="7" creationId="{C3BC92DE-1779-4A44-AED9-0261C2497DD9}"/>
          </ac:spMkLst>
        </pc:spChg>
      </pc:sldChg>
      <pc:sldChg chg="modSp mod">
        <pc:chgData name="kaisar malik" userId="87a5deb43dab58c1" providerId="LiveId" clId="{13D5EEFD-08F0-484F-8365-FE97859C1EFF}" dt="2025-12-04T05:39:03.838" v="157" actId="20577"/>
        <pc:sldMkLst>
          <pc:docMk/>
          <pc:sldMk cId="1543265293" sldId="1864"/>
        </pc:sldMkLst>
        <pc:spChg chg="mod">
          <ac:chgData name="kaisar malik" userId="87a5deb43dab58c1" providerId="LiveId" clId="{13D5EEFD-08F0-484F-8365-FE97859C1EFF}" dt="2025-12-04T05:39:03.838" v="157" actId="20577"/>
          <ac:spMkLst>
            <pc:docMk/>
            <pc:sldMk cId="1543265293" sldId="1864"/>
            <ac:spMk id="3074" creationId="{ED2DB031-9003-4F74-A88F-FE2A2ABABC72}"/>
          </ac:spMkLst>
        </pc:spChg>
      </pc:sldChg>
      <pc:sldChg chg="modSp mod">
        <pc:chgData name="kaisar malik" userId="87a5deb43dab58c1" providerId="LiveId" clId="{13D5EEFD-08F0-484F-8365-FE97859C1EFF}" dt="2025-12-04T04:56:17.408" v="79" actId="20577"/>
        <pc:sldMkLst>
          <pc:docMk/>
          <pc:sldMk cId="1430663837" sldId="1865"/>
        </pc:sldMkLst>
        <pc:spChg chg="mod">
          <ac:chgData name="kaisar malik" userId="87a5deb43dab58c1" providerId="LiveId" clId="{13D5EEFD-08F0-484F-8365-FE97859C1EFF}" dt="2025-12-04T04:56:17.408" v="79" actId="20577"/>
          <ac:spMkLst>
            <pc:docMk/>
            <pc:sldMk cId="1430663837" sldId="1865"/>
            <ac:spMk id="6" creationId="{9202AD8E-4C7C-4A1B-89B1-9A0997F4F30E}"/>
          </ac:spMkLst>
        </pc:spChg>
      </pc:sldChg>
      <pc:sldChg chg="modSp mod">
        <pc:chgData name="kaisar malik" userId="87a5deb43dab58c1" providerId="LiveId" clId="{13D5EEFD-08F0-484F-8365-FE97859C1EFF}" dt="2025-12-04T04:58:05.525" v="117" actId="313"/>
        <pc:sldMkLst>
          <pc:docMk/>
          <pc:sldMk cId="3366527757" sldId="1867"/>
        </pc:sldMkLst>
        <pc:spChg chg="mod">
          <ac:chgData name="kaisar malik" userId="87a5deb43dab58c1" providerId="LiveId" clId="{13D5EEFD-08F0-484F-8365-FE97859C1EFF}" dt="2025-12-04T04:58:05.525" v="117" actId="313"/>
          <ac:spMkLst>
            <pc:docMk/>
            <pc:sldMk cId="3366527757" sldId="1867"/>
            <ac:spMk id="3" creationId="{68675CE5-70A2-411D-881E-7B75B82931F4}"/>
          </ac:spMkLst>
        </pc:spChg>
      </pc:sldChg>
      <pc:sldChg chg="modSp mod">
        <pc:chgData name="kaisar malik" userId="87a5deb43dab58c1" providerId="LiveId" clId="{13D5EEFD-08F0-484F-8365-FE97859C1EFF}" dt="2025-12-04T04:57:26.952" v="114" actId="20577"/>
        <pc:sldMkLst>
          <pc:docMk/>
          <pc:sldMk cId="3202842934" sldId="1869"/>
        </pc:sldMkLst>
        <pc:spChg chg="mod">
          <ac:chgData name="kaisar malik" userId="87a5deb43dab58c1" providerId="LiveId" clId="{13D5EEFD-08F0-484F-8365-FE97859C1EFF}" dt="2025-12-04T04:57:26.952" v="114" actId="20577"/>
          <ac:spMkLst>
            <pc:docMk/>
            <pc:sldMk cId="3202842934" sldId="1869"/>
            <ac:spMk id="3" creationId="{1B3F7911-DA8C-08B1-EB2D-D6FB12C7FE7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9F622F8-1824-4338-8C3C-5529D3BDEF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18DDD53-BB38-4118-BC75-9CE27D49C55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C03B6F7-B1AE-4118-ABA2-FFEC9B8F0E9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646F5356-BDE8-43C1-9587-85323D02B19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89912C35-11A9-4DA7-8476-F1823F658C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7180ED79-CEC3-4FB9-B511-8597B20A0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EB7EE2-04A2-4FB2-9625-C9C73AC4D32F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FA4671F7-4D2C-4B1E-AED7-24676BE8B4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7842D7-C728-4EBD-982B-B8BE79E4DBBE}" type="slidenum">
              <a:rPr lang="en-US" altLang="en-US"/>
              <a:pPr eaLnBrk="1" hangingPunct="1"/>
              <a:t>1</a:t>
            </a:fld>
            <a:endParaRPr lang="en-US" altLang="en-US" dirty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8E83BD0-7AE4-4323-9047-FC368929C5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DECF5EC-C5EC-4723-8F4F-A75A20018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814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32278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3417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95288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DB60B1-BEF5-4848-BB02-98EBFE355C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E7964CB-E75A-4A03-88D3-6A48EF650A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42012" y="2766219"/>
            <a:ext cx="6220101" cy="132556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144067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6340929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6" name="Picture Placeholder 5" descr="Red, blue grey white pattern background">
            <a:extLst>
              <a:ext uri="{FF2B5EF4-FFF2-40B4-BE49-F238E27FC236}">
                <a16:creationId xmlns:a16="http://schemas.microsoft.com/office/drawing/2014/main" id="{8FD53BA4-73D2-4CCA-8580-11F4221524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7166" y="0"/>
            <a:ext cx="4764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 descr="White Striped background">
            <a:extLst>
              <a:ext uri="{FF2B5EF4-FFF2-40B4-BE49-F238E27FC236}">
                <a16:creationId xmlns:a16="http://schemas.microsoft.com/office/drawing/2014/main" id="{3917D528-010E-4303-97BF-F7F67BC661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324088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80F473D-F2DF-4163-AB6E-F7327F60EC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432562"/>
            <a:ext cx="10667999" cy="11582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7DC18506-6205-438F-AA5C-D337F9975FC3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757381" y="2591662"/>
            <a:ext cx="10667999" cy="2833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US" dirty="0"/>
              <a:t>Insert content here</a:t>
            </a:r>
          </a:p>
        </p:txBody>
      </p:sp>
      <p:pic>
        <p:nvPicPr>
          <p:cNvPr id="7" name="Picture Placeholder 5" descr="Red, blue grey white pattern background">
            <a:extLst>
              <a:ext uri="{FF2B5EF4-FFF2-40B4-BE49-F238E27FC236}">
                <a16:creationId xmlns:a16="http://schemas.microsoft.com/office/drawing/2014/main" id="{CD2D4C14-919B-45F8-8FB9-55AAC8A8FC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0252"/>
            <a:ext cx="12192000" cy="86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17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6" name="Picture Placeholder 6" descr="Red, blue grey white pattern background">
            <a:extLst>
              <a:ext uri="{FF2B5EF4-FFF2-40B4-BE49-F238E27FC236}">
                <a16:creationId xmlns:a16="http://schemas.microsoft.com/office/drawing/2014/main" id="{3A82D859-AED3-485F-A04E-40320B1043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767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87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DF03C311-DDF4-44A3-9D51-D5FDC4A8E7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432562"/>
            <a:ext cx="10667999" cy="9274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9FD563C5-3DFB-47DD-8A9E-30D8084590F6}"/>
              </a:ext>
            </a:extLst>
          </p:cNvPr>
          <p:cNvSpPr>
            <a:spLocks noGrp="1"/>
          </p:cNvSpPr>
          <p:nvPr>
            <p:ph type="dgm" sz="quarter" idx="14" hasCustomPrompt="1"/>
          </p:nvPr>
        </p:nvSpPr>
        <p:spPr>
          <a:xfrm>
            <a:off x="762001" y="2369129"/>
            <a:ext cx="10667998" cy="33436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US" dirty="0"/>
              <a:t>Insert Content here</a:t>
            </a:r>
          </a:p>
        </p:txBody>
      </p:sp>
      <p:pic>
        <p:nvPicPr>
          <p:cNvPr id="9" name="Picture Placeholder 8" descr="Red, blue grey white pattern background">
            <a:extLst>
              <a:ext uri="{FF2B5EF4-FFF2-40B4-BE49-F238E27FC236}">
                <a16:creationId xmlns:a16="http://schemas.microsoft.com/office/drawing/2014/main" id="{EFDBB6A3-9760-4B41-9E31-6D5DD396E1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9582"/>
            <a:ext cx="12192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26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3F45076F-4240-4B40-8CE4-637DD751A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3"/>
            <a:ext cx="5334000" cy="11890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98B63D-F60C-4A9D-8D3E-0C7CD748F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5334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28600">
              <a:lnSpc>
                <a:spcPct val="100000"/>
              </a:lnSpc>
              <a:spcBef>
                <a:spcPts val="1000"/>
              </a:spcBef>
              <a:defRPr sz="1800"/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827A95C0-AE8D-46E1-9EF9-64504CBEF9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8000" y="715963"/>
            <a:ext cx="4572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89E410BA-B0FE-4F0E-8BE5-D33CC01663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000" y="3305541"/>
            <a:ext cx="4572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1" name="Picture Placeholder 5" descr="Red, blue grey white pattern background">
            <a:extLst>
              <a:ext uri="{FF2B5EF4-FFF2-40B4-BE49-F238E27FC236}">
                <a16:creationId xmlns:a16="http://schemas.microsoft.com/office/drawing/2014/main" id="{1014381E-E235-4624-9267-69EEEE9826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80922"/>
            <a:ext cx="12192000" cy="87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80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 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5" name="Picture Placeholder 6" descr="Red, blue grey white pattern background">
            <a:extLst>
              <a:ext uri="{FF2B5EF4-FFF2-40B4-BE49-F238E27FC236}">
                <a16:creationId xmlns:a16="http://schemas.microsoft.com/office/drawing/2014/main" id="{6696C96D-182E-490E-A117-B60FF18536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7166" y="0"/>
            <a:ext cx="4764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42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 descr="Picture placeholder ">
            <a:extLst>
              <a:ext uri="{FF2B5EF4-FFF2-40B4-BE49-F238E27FC236}">
                <a16:creationId xmlns:a16="http://schemas.microsoft.com/office/drawing/2014/main" id="{21F9B252-B7D4-4DA8-92E8-8A98BFEF41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4100711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7724906-4405-47F4-B533-7291B003B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EEF53A4-35A6-4E43-B220-67DA381C59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  <p:pic>
        <p:nvPicPr>
          <p:cNvPr id="6" name="Picture Placeholder 5" descr="Red, blue grey white pattern background">
            <a:extLst>
              <a:ext uri="{FF2B5EF4-FFF2-40B4-BE49-F238E27FC236}">
                <a16:creationId xmlns:a16="http://schemas.microsoft.com/office/drawing/2014/main" id="{906BF34F-6945-4E11-BAEC-F66F7254C4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9582"/>
            <a:ext cx="12192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23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 Blu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5" name="Picture Placeholder 6" descr="Red, blue grey white pattern background">
            <a:extLst>
              <a:ext uri="{FF2B5EF4-FFF2-40B4-BE49-F238E27FC236}">
                <a16:creationId xmlns:a16="http://schemas.microsoft.com/office/drawing/2014/main" id="{BC85C715-EF0D-4E33-AC89-C35DD2596E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767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7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6904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9" r:id="rId2"/>
    <p:sldLayoutId id="2147483700" r:id="rId3"/>
    <p:sldLayoutId id="2147483691" r:id="rId4"/>
    <p:sldLayoutId id="2147483701" r:id="rId5"/>
    <p:sldLayoutId id="2147483706" r:id="rId6"/>
    <p:sldLayoutId id="2147483702" r:id="rId7"/>
    <p:sldLayoutId id="2147483704" r:id="rId8"/>
    <p:sldLayoutId id="2147483703" r:id="rId9"/>
    <p:sldLayoutId id="2147483690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D2DB031-9003-4F74-A88F-FE2A2ABAB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42012" y="2766219"/>
            <a:ext cx="6220101" cy="1325563"/>
          </a:xfrm>
        </p:spPr>
        <p:txBody>
          <a:bodyPr anchor="ctr">
            <a:noAutofit/>
          </a:bodyPr>
          <a:lstStyle/>
          <a:p>
            <a:r>
              <a:rPr lang="en-US" altLang="en-US" dirty="0">
                <a:solidFill>
                  <a:schemeClr val="accent2"/>
                </a:solidFill>
              </a:rPr>
              <a:t>Bank loan management system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4326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7BA0B6F-5258-479C-87B7-C806E6757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6477000" cy="1189038"/>
          </a:xfrm>
        </p:spPr>
        <p:txBody>
          <a:bodyPr/>
          <a:lstStyle/>
          <a:p>
            <a:r>
              <a:rPr lang="en-US"/>
              <a:t>Introduction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36812B-2065-4A2B-B59B-8957022687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905000"/>
            <a:ext cx="6340929" cy="3276600"/>
          </a:xfrm>
        </p:spPr>
        <p:txBody>
          <a:bodyPr/>
          <a:lstStyle/>
          <a:p>
            <a:r>
              <a:rPr lang="en-US" dirty="0"/>
              <a:t>Project Title: Bank Loan Management System</a:t>
            </a:r>
          </a:p>
          <a:p>
            <a:r>
              <a:rPr lang="en-US" dirty="0"/>
              <a:t> Course: programming in c</a:t>
            </a:r>
          </a:p>
          <a:p>
            <a:r>
              <a:rPr lang="en-US" dirty="0"/>
              <a:t> Presented By: </a:t>
            </a:r>
            <a:r>
              <a:rPr lang="en-US" i="1" dirty="0"/>
              <a:t> – Kaisar Malik</a:t>
            </a:r>
          </a:p>
          <a:p>
            <a:r>
              <a:rPr lang="en-US" dirty="0"/>
              <a:t> Faculty: Dr. Prashant Trivedi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1669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9E38B3-4686-8247-9625-49018D29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301" y="1995467"/>
            <a:ext cx="9141397" cy="615553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CBA01B-ECA4-4938-872A-B38BEB13AC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96307" y="3260705"/>
            <a:ext cx="7799387" cy="1534757"/>
          </a:xfrm>
        </p:spPr>
        <p:txBody>
          <a:bodyPr/>
          <a:lstStyle/>
          <a:p>
            <a:r>
              <a:rPr lang="en-US" b="1" dirty="0"/>
              <a:t>Scope of the Project:</a:t>
            </a:r>
          </a:p>
          <a:p>
            <a:endParaRPr lang="en-US" b="1" dirty="0"/>
          </a:p>
          <a:p>
            <a:r>
              <a:rPr lang="en-US" dirty="0"/>
              <a:t>Loan application</a:t>
            </a:r>
          </a:p>
          <a:p>
            <a:r>
              <a:rPr lang="en-US" dirty="0"/>
              <a:t>EMI calculation</a:t>
            </a:r>
          </a:p>
          <a:p>
            <a:r>
              <a:rPr lang="en-US" dirty="0"/>
              <a:t>EMI schedule generation</a:t>
            </a:r>
          </a:p>
          <a:p>
            <a:r>
              <a:rPr lang="en-US" dirty="0"/>
              <a:t>Installment payment tracking</a:t>
            </a:r>
          </a:p>
          <a:p>
            <a:r>
              <a:rPr lang="en-US" dirty="0"/>
              <a:t>Payment history display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542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FBE6B-DC67-4E64-80F4-CADE978D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4"/>
            <a:ext cx="10591800" cy="646332"/>
          </a:xfrm>
        </p:spPr>
        <p:txBody>
          <a:bodyPr/>
          <a:lstStyle/>
          <a:p>
            <a:r>
              <a:rPr lang="en-IN" dirty="0"/>
              <a:t>1. Problem Definition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C6A9FD9-630E-44B9-BED8-AFEA6C84A8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1" y="1432562"/>
            <a:ext cx="10591800" cy="1811381"/>
          </a:xfrm>
        </p:spPr>
        <p:txBody>
          <a:bodyPr/>
          <a:lstStyle/>
          <a:p>
            <a:r>
              <a:rPr lang="en-US" b="1" dirty="0"/>
              <a:t>What Problem Does This Project Solve?</a:t>
            </a:r>
          </a:p>
          <a:p>
            <a:r>
              <a:rPr lang="en-US" dirty="0"/>
              <a:t>Manual loan processing is slow and error‑prone.</a:t>
            </a:r>
          </a:p>
          <a:p>
            <a:r>
              <a:rPr lang="en-US" dirty="0"/>
              <a:t>Tracking EMI payments manually is difficult.</a:t>
            </a:r>
          </a:p>
          <a:p>
            <a:r>
              <a:rPr lang="en-US" dirty="0"/>
              <a:t>Customers need a transparent system to view loan status.</a:t>
            </a:r>
          </a:p>
          <a:p>
            <a:r>
              <a:rPr lang="en-US" b="1" dirty="0"/>
              <a:t>Why Is It Important?</a:t>
            </a:r>
          </a:p>
          <a:p>
            <a:r>
              <a:rPr lang="en-US" dirty="0"/>
              <a:t>Banks handle thousands of loans every day.</a:t>
            </a:r>
          </a:p>
          <a:p>
            <a:r>
              <a:rPr lang="en-US" dirty="0"/>
              <a:t>Automation reduces human error and improves accuracy.</a:t>
            </a:r>
          </a:p>
          <a:p>
            <a:r>
              <a:rPr lang="en-US" dirty="0"/>
              <a:t>Helps customers understand EMI, interest, and payment history.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5767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18C6B5-87AC-4DA5-94CA-6E092A6A0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4"/>
            <a:ext cx="10591800" cy="646332"/>
          </a:xfrm>
        </p:spPr>
        <p:txBody>
          <a:bodyPr/>
          <a:lstStyle/>
          <a:p>
            <a:r>
              <a:rPr lang="en-IN" dirty="0"/>
              <a:t>2. Solution Approach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F52EDA-7F85-46DD-9A9E-95E0E3EC3F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432562"/>
            <a:ext cx="10667999" cy="927425"/>
          </a:xfrm>
        </p:spPr>
        <p:txBody>
          <a:bodyPr/>
          <a:lstStyle/>
          <a:p>
            <a:r>
              <a:rPr lang="en-IN" b="1" dirty="0"/>
              <a:t>Methodology</a:t>
            </a:r>
          </a:p>
          <a:p>
            <a:r>
              <a:rPr lang="en-IN" dirty="0"/>
              <a:t>Implemented using </a:t>
            </a:r>
            <a:r>
              <a:rPr lang="en-IN" b="1" dirty="0"/>
              <a:t>C programming</a:t>
            </a:r>
            <a:endParaRPr lang="en-IN" dirty="0"/>
          </a:p>
          <a:p>
            <a:r>
              <a:rPr lang="en-IN" dirty="0"/>
              <a:t>Uses </a:t>
            </a:r>
            <a:r>
              <a:rPr lang="en-IN" b="1" dirty="0"/>
              <a:t>file handling</a:t>
            </a:r>
            <a:r>
              <a:rPr lang="en-IN" dirty="0"/>
              <a:t> to store loan details and payment history</a:t>
            </a:r>
          </a:p>
          <a:p>
            <a:r>
              <a:rPr lang="en-IN" dirty="0"/>
              <a:t>EMI calculated using mathematical formula</a:t>
            </a:r>
          </a:p>
          <a:p>
            <a:r>
              <a:rPr lang="en-IN" dirty="0"/>
              <a:t>Menu‑driven interface for easy navigation</a:t>
            </a:r>
          </a:p>
          <a:p>
            <a:r>
              <a:rPr lang="en-IN" b="1" dirty="0"/>
              <a:t>System Architecture</a:t>
            </a:r>
          </a:p>
          <a:p>
            <a:r>
              <a:rPr lang="en-IN" b="1" dirty="0"/>
              <a:t>Input Module:</a:t>
            </a:r>
            <a:r>
              <a:rPr lang="en-IN" dirty="0"/>
              <a:t> User details, salary, credit score</a:t>
            </a:r>
          </a:p>
          <a:p>
            <a:r>
              <a:rPr lang="en-IN" b="1" dirty="0"/>
              <a:t>Processing Module:</a:t>
            </a:r>
            <a:r>
              <a:rPr lang="en-IN" dirty="0"/>
              <a:t> Eligibility check, EMI calculation</a:t>
            </a:r>
          </a:p>
          <a:p>
            <a:r>
              <a:rPr lang="en-IN" b="1" dirty="0"/>
              <a:t>Storage Module:</a:t>
            </a:r>
            <a:r>
              <a:rPr lang="en-IN" dirty="0"/>
              <a:t> loan.txt, payments.txt</a:t>
            </a:r>
          </a:p>
          <a:p>
            <a:r>
              <a:rPr lang="en-IN" b="1" dirty="0"/>
              <a:t>Output Module:</a:t>
            </a:r>
            <a:r>
              <a:rPr lang="en-IN" dirty="0"/>
              <a:t> EMI schedule, payment history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979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2">
                <a:extLst>
                  <a:ext uri="{FF2B5EF4-FFF2-40B4-BE49-F238E27FC236}">
                    <a16:creationId xmlns:a16="http://schemas.microsoft.com/office/drawing/2014/main" id="{9202AD8E-4C7C-4A1B-89B1-9A0997F4F30E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8425" y="109538"/>
                <a:ext cx="7140575" cy="6650037"/>
              </a:xfrm>
            </p:spPr>
            <p:txBody>
              <a:bodyPr/>
              <a:lstStyle/>
              <a:p>
                <a:r>
                  <a:rPr lang="en-IN" dirty="0"/>
                  <a:t>✅ check Eligibility():-</a:t>
                </a:r>
              </a:p>
              <a:p>
                <a:r>
                  <a:rPr lang="en-IN" dirty="0"/>
                  <a:t>Validates salary and credit score</a:t>
                </a:r>
              </a:p>
              <a:p>
                <a:r>
                  <a:rPr lang="en-IN" dirty="0"/>
                  <a:t>✅ calculate EMI():-</a:t>
                </a:r>
              </a:p>
              <a:p>
                <a:r>
                  <a:rPr lang="en-IN" dirty="0"/>
                  <a:t>Computes EMI using 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𝐸𝑀𝐼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endChr m:val="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d>
                            <m:dPr>
                              <m:endChr m:val="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✅ apply Loan():-</a:t>
                </a:r>
              </a:p>
              <a:p>
                <a:r>
                  <a:rPr lang="en-US" dirty="0"/>
                  <a:t>Takes user input</a:t>
                </a:r>
              </a:p>
              <a:p>
                <a:r>
                  <a:rPr lang="en-US" dirty="0"/>
                  <a:t>Approves/rejects loan</a:t>
                </a:r>
              </a:p>
              <a:p>
                <a:r>
                  <a:rPr lang="en-US" dirty="0"/>
                  <a:t>Stores data in loan.txt</a:t>
                </a:r>
              </a:p>
              <a:p>
                <a:r>
                  <a:rPr lang="en-US" dirty="0"/>
                  <a:t>✅ generate Schedule():-</a:t>
                </a:r>
              </a:p>
              <a:p>
                <a:r>
                  <a:rPr lang="en-US" dirty="0"/>
                  <a:t>Displays month‑wise interest, principal, and balance</a:t>
                </a:r>
              </a:p>
              <a:p>
                <a:r>
                  <a:rPr lang="en-US" dirty="0"/>
                  <a:t>✅ pay Installment():-</a:t>
                </a:r>
              </a:p>
              <a:p>
                <a:r>
                  <a:rPr lang="en-US" dirty="0"/>
                  <a:t>Marks an installment as “paid”</a:t>
                </a:r>
              </a:p>
              <a:p>
                <a:r>
                  <a:rPr lang="en-US" dirty="0"/>
                  <a:t>✅ show History():-</a:t>
                </a:r>
              </a:p>
              <a:p>
                <a:r>
                  <a:rPr lang="en-US" dirty="0"/>
                  <a:t>Shows paid and pending installments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6" name="Title 2">
                <a:extLst>
                  <a:ext uri="{FF2B5EF4-FFF2-40B4-BE49-F238E27FC236}">
                    <a16:creationId xmlns:a16="http://schemas.microsoft.com/office/drawing/2014/main" id="{9202AD8E-4C7C-4A1B-89B1-9A0997F4F3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8425" y="109538"/>
                <a:ext cx="7140575" cy="6650037"/>
              </a:xfrm>
              <a:blipFill>
                <a:blip r:embed="rId2"/>
                <a:stretch>
                  <a:fillRect l="-683" t="-4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0663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A61C8-56F5-6C7D-8ECE-DC8247B45D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9743" y="239486"/>
            <a:ext cx="6477000" cy="494211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E9735E-71A2-300A-9050-5CC698846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556" y="1186373"/>
            <a:ext cx="4725059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714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55E1D-F4AD-41A7-B948-E2D246CCFE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96307" y="544287"/>
            <a:ext cx="7799387" cy="543197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dirty="0"/>
              <a:t>3. Working Code Demonstration</a:t>
            </a:r>
          </a:p>
          <a:p>
            <a:r>
              <a:rPr lang="en-US" b="1" dirty="0"/>
              <a:t>Live Demo Requirements</a:t>
            </a:r>
          </a:p>
          <a:p>
            <a:r>
              <a:rPr lang="en-US" dirty="0"/>
              <a:t>Show file structure</a:t>
            </a:r>
          </a:p>
          <a:p>
            <a:r>
              <a:rPr lang="en-US" dirty="0"/>
              <a:t>Show code execution</a:t>
            </a:r>
          </a:p>
          <a:p>
            <a:r>
              <a:rPr lang="en-US" dirty="0"/>
              <a:t>Demonstrate each menu option</a:t>
            </a:r>
          </a:p>
          <a:p>
            <a:endParaRPr lang="en-US" dirty="0"/>
          </a:p>
          <a:p>
            <a:r>
              <a:rPr lang="en-US" b="1" dirty="0" err="1"/>
              <a:t>creens</a:t>
            </a:r>
            <a:r>
              <a:rPr lang="en-US" b="1" dirty="0"/>
              <a:t> to Show</a:t>
            </a:r>
          </a:p>
          <a:p>
            <a:r>
              <a:rPr lang="en-US" dirty="0"/>
              <a:t>Loan Application</a:t>
            </a:r>
          </a:p>
          <a:p>
            <a:r>
              <a:rPr lang="en-US" dirty="0"/>
              <a:t>EMI Schedule</a:t>
            </a:r>
          </a:p>
          <a:p>
            <a:r>
              <a:rPr lang="en-US" dirty="0"/>
              <a:t>Installment Payment</a:t>
            </a:r>
          </a:p>
          <a:p>
            <a:r>
              <a:rPr lang="en-US" dirty="0"/>
              <a:t>Payment History</a:t>
            </a:r>
          </a:p>
          <a:p>
            <a:endParaRPr lang="en-US" dirty="0"/>
          </a:p>
          <a:p>
            <a:pPr algn="l"/>
            <a:endParaRPr lang="en-US" alt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6C0336-8DE6-5C75-902E-26FC43CFD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32" y="2499906"/>
            <a:ext cx="4401164" cy="381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761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329FB-0335-34F9-A089-3AC74569D1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4543" y="152400"/>
            <a:ext cx="6814457" cy="6618514"/>
          </a:xfrm>
        </p:spPr>
        <p:txBody>
          <a:bodyPr/>
          <a:lstStyle/>
          <a:p>
            <a:r>
              <a:rPr lang="en-US" dirty="0"/>
              <a:t>EMI Schedule Output</a:t>
            </a:r>
          </a:p>
          <a:p>
            <a:r>
              <a:rPr lang="en-US" dirty="0"/>
              <a:t>Displays month‑wise breakdown</a:t>
            </a:r>
          </a:p>
          <a:p>
            <a:r>
              <a:rPr lang="en-US" dirty="0"/>
              <a:t>Shows interest, principal, and remaining balance</a:t>
            </a:r>
          </a:p>
          <a:p>
            <a:r>
              <a:rPr lang="en-US" dirty="0"/>
              <a:t>Helps user understand repayment structure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E96529-7E6A-A4DF-0F72-6AA7BA13B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43" y="1930605"/>
            <a:ext cx="5839640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868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F7911-DA8C-08B1-EB2D-D6FB12C7FE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85057"/>
            <a:ext cx="6477000" cy="6335486"/>
          </a:xfrm>
        </p:spPr>
        <p:txBody>
          <a:bodyPr/>
          <a:lstStyle/>
          <a:p>
            <a:r>
              <a:rPr lang="en-US" dirty="0"/>
              <a:t>Installment Payment Tracking:-</a:t>
            </a:r>
          </a:p>
          <a:p>
            <a:r>
              <a:rPr lang="en-US" dirty="0"/>
              <a:t>-User selects installment number</a:t>
            </a:r>
          </a:p>
          <a:p>
            <a:r>
              <a:rPr lang="en-US" dirty="0"/>
              <a:t>-System marks it as paid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D8B435-E387-4BD6-5FFC-08271DFE6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86" y="2262014"/>
            <a:ext cx="5106113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842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3FC43-EFC1-2FBE-B203-D29F14CA5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7058" y="87087"/>
            <a:ext cx="6905056" cy="6574970"/>
          </a:xfrm>
        </p:spPr>
        <p:txBody>
          <a:bodyPr/>
          <a:lstStyle/>
          <a:p>
            <a:r>
              <a:rPr lang="en-US" sz="1200" dirty="0"/>
              <a:t>Loan History:-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-Shows all installments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-Displays paid and pending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-Summary: total paid vs pending</a:t>
            </a:r>
            <a:br>
              <a:rPr lang="en-US" sz="1200" dirty="0"/>
            </a:br>
            <a:br>
              <a:rPr lang="en-US" sz="1200" dirty="0"/>
            </a:br>
            <a:endParaRPr lang="en-IN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9A57BB-296E-069A-72FA-EF63693E5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155" y="1465195"/>
            <a:ext cx="3867690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020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8DF32A-D165-40DA-AAE8-A6E9579E2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301" y="1995467"/>
            <a:ext cx="9141397" cy="615553"/>
          </a:xfrm>
        </p:spPr>
        <p:txBody>
          <a:bodyPr/>
          <a:lstStyle/>
          <a:p>
            <a:r>
              <a:rPr lang="en-US" dirty="0"/>
              <a:t>Questions </a:t>
            </a:r>
            <a:r>
              <a:rPr lang="en-US" dirty="0">
                <a:solidFill>
                  <a:schemeClr val="accent2"/>
                </a:solidFill>
              </a:rPr>
              <a:t>&amp;</a:t>
            </a:r>
            <a:r>
              <a:rPr lang="en-US" dirty="0"/>
              <a:t> answers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3BC92DE-1779-4A44-AED9-0261C2497D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96307" y="3260705"/>
            <a:ext cx="7799387" cy="1534757"/>
          </a:xfrm>
        </p:spPr>
        <p:txBody>
          <a:bodyPr/>
          <a:lstStyle/>
          <a:p>
            <a:r>
              <a:rPr lang="en-US" alt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71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A36B3A-558B-413E-877B-7275290AB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742" y="715961"/>
            <a:ext cx="6477000" cy="1189037"/>
          </a:xfrm>
        </p:spPr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75CE5-70A2-411D-881E-7B75B82931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9743" y="1905000"/>
            <a:ext cx="6477000" cy="3276600"/>
          </a:xfrm>
        </p:spPr>
        <p:txBody>
          <a:bodyPr/>
          <a:lstStyle/>
          <a:p>
            <a:r>
              <a:rPr lang="en-US" altLang="en-US" dirty="0"/>
              <a:t>List the resources you used for your research:</a:t>
            </a:r>
          </a:p>
          <a:p>
            <a:r>
              <a:rPr lang="fr-FR" dirty="0"/>
              <a:t>C </a:t>
            </a:r>
            <a:r>
              <a:rPr lang="fr-FR" dirty="0" err="1"/>
              <a:t>Programming</a:t>
            </a:r>
            <a:r>
              <a:rPr lang="fr-FR" dirty="0"/>
              <a:t>  </a:t>
            </a:r>
            <a:r>
              <a:rPr lang="fr-FR" dirty="0" err="1"/>
              <a:t>Textbooks</a:t>
            </a:r>
            <a:endParaRPr lang="fr-FR" dirty="0"/>
          </a:p>
          <a:p>
            <a:r>
              <a:rPr lang="fr-FR" dirty="0"/>
              <a:t>Online C documentation</a:t>
            </a:r>
          </a:p>
          <a:p>
            <a:r>
              <a:rPr lang="fr-FR" dirty="0"/>
              <a:t>Tutorial on file handling</a:t>
            </a:r>
          </a:p>
          <a:p>
            <a:r>
              <a:rPr lang="fr-FR" dirty="0"/>
              <a:t>EMI </a:t>
            </a:r>
            <a:r>
              <a:rPr lang="fr-FR" dirty="0" err="1"/>
              <a:t>calculation</a:t>
            </a:r>
            <a:r>
              <a:rPr lang="fr-FR" dirty="0"/>
              <a:t> formula ressources</a:t>
            </a:r>
          </a:p>
          <a:p>
            <a:r>
              <a:rPr lang="fr-FR" dirty="0"/>
              <a:t>Classroom notes and </a:t>
            </a:r>
            <a:r>
              <a:rPr lang="fr-FR" dirty="0" err="1"/>
              <a:t>faculty</a:t>
            </a:r>
            <a:r>
              <a:rPr lang="fr-FR" dirty="0"/>
              <a:t> guidance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Arial" panose="020B0604020202020204" pitchFamily="34" charset="0"/>
              </a:rPr>
              <a:t>C Programming Textbooks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Arial" panose="020B0604020202020204" pitchFamily="34" charset="0"/>
              </a:rPr>
              <a:t>Online C documentation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Arial" panose="020B0604020202020204" pitchFamily="34" charset="0"/>
              </a:rPr>
              <a:t>Tutorials on file handling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Arial" panose="020B0604020202020204" pitchFamily="34" charset="0"/>
              </a:rPr>
              <a:t>EMI calculation formula resources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Arial" panose="020B0604020202020204" pitchFamily="34" charset="0"/>
              </a:rPr>
              <a:t>Classroom notes and faculty guidance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19CC692-1201-9D5C-713B-0713AED74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 Programming Textbooks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C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Tutorials on file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EMI calculation formula resources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Classroom notes and faculty guidance</a:t>
            </a:r>
          </a:p>
        </p:txBody>
      </p:sp>
    </p:spTree>
    <p:extLst>
      <p:ext uri="{BB962C8B-B14F-4D97-AF65-F5344CB8AC3E}">
        <p14:creationId xmlns:p14="http://schemas.microsoft.com/office/powerpoint/2010/main" val="3366527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23042"/>
      </a:accent1>
      <a:accent2>
        <a:srgbClr val="3578AF"/>
      </a:accent2>
      <a:accent3>
        <a:srgbClr val="C4C4C4"/>
      </a:accent3>
      <a:accent4>
        <a:srgbClr val="A80B22"/>
      </a:accent4>
      <a:accent5>
        <a:srgbClr val="E2E2E2"/>
      </a:accent5>
      <a:accent6>
        <a:srgbClr val="2A6187"/>
      </a:accent6>
      <a:hlink>
        <a:srgbClr val="0563C1"/>
      </a:hlink>
      <a:folHlink>
        <a:srgbClr val="954F72"/>
      </a:folHlink>
    </a:clrScheme>
    <a:fontScheme name="Custom 8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ewish American Heritage Month_Win32_JC_SL_v3" id="{5A91364D-DD38-4994-BB9C-41D074FD197A}" vid="{8577DF34-D72C-48EB-902A-0A54C766E053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5C1F8C-D27A-4CE7-9DF4-4AFDB2880F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F283A3-AA81-4663-8764-64F64C723FD1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4EE2DFF-920A-42C9-AEE0-3A0BF6AF46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2f988bf-86f1-41af-91ab-2d7cd011db47}" enabled="0" method="" siteId="{72f988bf-86f1-41af-91ab-2d7cd011db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Jewish American Heritage Month presentation</Template>
  <TotalTime>279</TotalTime>
  <Words>428</Words>
  <Application>Microsoft Office PowerPoint</Application>
  <PresentationFormat>Widescreen</PresentationFormat>
  <Paragraphs>96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Cambria Math</vt:lpstr>
      <vt:lpstr>Office Theme</vt:lpstr>
      <vt:lpstr>Bank loan management system</vt:lpstr>
      <vt:lpstr>Introduction</vt:lpstr>
      <vt:lpstr>Overview</vt:lpstr>
      <vt:lpstr>1. Problem Definition</vt:lpstr>
      <vt:lpstr>2. Solution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Loan History:-  -Shows all installments  -Displays paid and pending  -Summary: total paid vs pending  </vt:lpstr>
      <vt:lpstr>Questions &amp; answers</vt:lpstr>
      <vt:lpstr>Resources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kaisar malik</dc:creator>
  <cp:keywords/>
  <dc:description/>
  <cp:lastModifiedBy>kaisar malik</cp:lastModifiedBy>
  <cp:revision>1</cp:revision>
  <dcterms:created xsi:type="dcterms:W3CDTF">2025-12-04T03:45:45Z</dcterms:created>
  <dcterms:modified xsi:type="dcterms:W3CDTF">2025-12-04T08:27:30Z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